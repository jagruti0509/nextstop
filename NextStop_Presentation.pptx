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371600"/>
            <a:ext cx="4114800" cy="4114800"/>
          </a:xfrm>
          <a:prstGeom prst="ellipse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2011680"/>
            <a:ext cx="2834640" cy="2834640"/>
          </a:xfrm>
          <a:prstGeom prst="ellipse">
            <a:avLst/>
          </a:prstGeom>
          <a:solidFill>
            <a:srgbClr val="0B0F1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109728" cy="2560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Outfit"/>
              </a:defRPr>
            </a:pPr>
            <a:r>
              <a:t>SOFTWARE ENGINEERING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Outfit"/>
              </a:defRPr>
            </a:pPr>
            <a:r>
              <a:t>NextStop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94A3B8"/>
                </a:solidFill>
                <a:latin typeface="Inter"/>
              </a:defRPr>
            </a:pPr>
            <a:r>
              <a:t>A Smart Travel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Outfit"/>
              </a:defRPr>
            </a:pPr>
            <a:r>
              <a:t>THE EXPERIENCE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The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6459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20640" cy="40233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4B8A6"/>
                </a:solidFill>
                <a:latin typeface="Outfit"/>
              </a:defRPr>
            </a:pPr>
            <a:r>
              <a:t>1.4 Billion+</a:t>
            </a:r>
          </a:p>
          <a:p>
            <a:pPr>
              <a:spcBef>
                <a:spcPts val="400"/>
              </a:spcBef>
              <a:defRPr sz="1200" b="1">
                <a:solidFill>
                  <a:srgbClr val="8B5CF6"/>
                </a:solidFill>
                <a:latin typeface="Outfit"/>
              </a:defRPr>
            </a:pPr>
            <a:r>
              <a:t>Annual Globetrotters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Inter"/>
              </a:defRPr>
            </a:pPr>
            <a:r>
              <a:t>Over 1.4 billion people travel annually, yet a significant majority struggle to find authentic experiences that align with their personal tastes.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5120640" cy="40233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Outfit"/>
              </a:defRPr>
            </a:pPr>
            <a:r>
              <a:t>Planning 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47472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  <a:latin typeface="Inter"/>
              </a:defRPr>
            </a:pPr>
            <a:r>
              <a:t>Current platforms rely heavily on generic, static lists. This information overload causes high decision fatigue and leads to wasted planning time before and during the journey.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Outfit"/>
              </a:defRPr>
            </a:pPr>
            <a:r>
              <a:t>REDEFINING TRAVEL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Objective &amp;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6459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20640" cy="2286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Outfit"/>
              </a:defRPr>
            </a:pPr>
            <a:r>
              <a:t>THE CORE AIM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Inter"/>
              </a:defRPr>
            </a:pPr>
            <a:r>
              <a:t>Redefine travel intelligence by moving beyond standard static trip planners to deliver real-time, adaptive navigation structures.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120640" cy="2286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Outfit"/>
              </a:defRPr>
            </a:pPr>
            <a:r>
              <a:t>THE GOAL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Inter"/>
              </a:defRPr>
            </a:pPr>
            <a:r>
              <a:t>Instantly convert user preferences into fully optimized, dynamic daily schedules ready for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698480" cy="1463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Outfit"/>
              </a:defRPr>
            </a:pPr>
            <a:r>
              <a:t>KEY STRATEGIC FOCUS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  <a:latin typeface="Inter"/>
              </a:defRPr>
            </a:pPr>
            <a:r>
              <a:t>• Mood Personalization: Tailoring itineraries to user mindset rather than standard templates.</a:t>
            </a:r>
            <a:br/>
            <a:r>
              <a:t>• Stress-Free Discovery: Curating streamlined routes to ensure seamless navigation in foreign locales.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Outfit"/>
              </a:defRPr>
            </a:pPr>
            <a:r>
              <a:t>DATA PIPELINE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System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6459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2468880" cy="38404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B8A6"/>
                </a:solidFill>
                <a:latin typeface="Outfit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Outfit"/>
              </a:defRPr>
            </a:pPr>
            <a:r>
              <a:t>User Preferences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Ingests travel style, mood, and budget constraints.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6120" y="3840480"/>
            <a:ext cx="182880" cy="274320"/>
          </a:xfrm>
          <a:prstGeom prst="rightArrow">
            <a:avLst/>
          </a:prstGeom>
          <a:solidFill>
            <a:srgbClr val="26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2103120"/>
            <a:ext cx="2468880" cy="38404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Outfi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Outfit"/>
              </a:defRPr>
            </a:pPr>
            <a:r>
              <a:t>AI Engine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Processes inputs to rank and cluster relevant activities.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9320" y="3840480"/>
            <a:ext cx="182880" cy="274320"/>
          </a:xfrm>
          <a:prstGeom prst="rightArrow">
            <a:avLst/>
          </a:prstGeom>
          <a:solidFill>
            <a:srgbClr val="26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103120"/>
            <a:ext cx="2468880" cy="38404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B8A6"/>
                </a:solidFill>
                <a:latin typeface="Outfit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Outfit"/>
              </a:defRPr>
            </a:pPr>
            <a:r>
              <a:t>Google Places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Cross-references clusters with live geospatial APIs.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32520" y="3840480"/>
            <a:ext cx="182880" cy="274320"/>
          </a:xfrm>
          <a:prstGeom prst="rightArrow">
            <a:avLst/>
          </a:prstGeom>
          <a:solidFill>
            <a:srgbClr val="26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2103120"/>
            <a:ext cx="2468880" cy="38404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2860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Outfit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9260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Outfit"/>
              </a:defRPr>
            </a:pPr>
            <a:r>
              <a:t>Personalized Itinerary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Outputs a bespoke, executable daily schedule.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Outfit"/>
              </a:defRPr>
            </a:pPr>
            <a:r>
              <a:t>CORE OPERATIONS &amp;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Algorithmic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6459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Outfit"/>
              </a:defRPr>
            </a:pPr>
            <a:r>
              <a:t>RELEVANCY ENGINE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  <a:latin typeface="Outfit"/>
              </a:defRPr>
            </a:pPr>
            <a:r>
              <a:t>Attraction Scoring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Ranks and grades available sights using multi-criteria variables based on real-time social reviews, distance, and direct personal user alignment.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Outfit"/>
              </a:defRPr>
            </a:pPr>
            <a:r>
              <a:t>SPATIAL OPTIMIZATION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  <a:latin typeface="Outfit"/>
              </a:defRPr>
            </a:pPr>
            <a:r>
              <a:t>Geographic Clustering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Utilizes spatial grouping logic to cluster nearby attractions, creating logically structured geographic zones to completely eliminate backtrack transit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Outfit"/>
              </a:defRPr>
            </a:pPr>
            <a:r>
              <a:t>REALTIME SHIFT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  <a:latin typeface="Outfit"/>
              </a:defRPr>
            </a:pPr>
            <a:r>
              <a:t>Contextual Adaptation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Dynamically modifies recommendation lists based on the user's specific state of mind, cleanly separating activities (e.g. Nightlife vs. Nature).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Outfit"/>
              </a:defRPr>
            </a:pPr>
            <a:r>
              <a:t>MODERN &amp; SCALABLE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6459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B8A6"/>
                </a:solidFill>
                <a:latin typeface="Outfit"/>
              </a:defRPr>
            </a:pPr>
            <a:r>
              <a:t>Frontend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Outfit"/>
              </a:defRPr>
            </a:pPr>
            <a:r>
              <a:t>→  React.js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Outfit"/>
              </a:defRPr>
            </a:pPr>
            <a:r>
              <a:t>→  Tailwind CSS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Outfit"/>
              </a:defRPr>
            </a:pPr>
            <a:r>
              <a:t>→  Framer Motion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Outfit"/>
              </a:defRPr>
            </a:pPr>
            <a:r>
              <a:t>→  Zustand</a:t>
            </a:r>
          </a:p>
          <a:p>
            <a:pPr>
              <a:spcBef>
                <a:spcPts val="16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Delivers an ultra-responsive, beautiful glassmorphic UI with micro-interactions.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B5CF6"/>
                </a:solidFill>
                <a:latin typeface="Outfit"/>
              </a:defRPr>
            </a:pPr>
            <a:r>
              <a:t>Backend &amp; DB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Outfit"/>
              </a:defRPr>
            </a:pPr>
            <a:r>
              <a:t>→  Node.js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Outfit"/>
              </a:defRPr>
            </a:pPr>
            <a:r>
              <a:t>→  Express.js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Outfit"/>
              </a:defRPr>
            </a:pPr>
            <a:r>
              <a:t>→  PostgreSQL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Outfit"/>
              </a:defRPr>
            </a:pPr>
            <a:r>
              <a:t>→  Sequelize ORM</a:t>
            </a:r>
          </a:p>
          <a:p>
            <a:pPr>
              <a:spcBef>
                <a:spcPts val="16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Ensures robust REST API endpoints, session security, and data mapping.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9456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B8A6"/>
                </a:solidFill>
                <a:latin typeface="Outfit"/>
              </a:defRPr>
            </a:pPr>
            <a:r>
              <a:t>Intelligence APIs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Outfit"/>
              </a:defRPr>
            </a:pPr>
            <a:r>
              <a:t>→  Google Places API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Outfit"/>
              </a:defRPr>
            </a:pPr>
            <a:r>
              <a:t>→  Google Maps SDK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Outfit"/>
              </a:defRPr>
            </a:pPr>
            <a:r>
              <a:t>→  Custom Scoring Engine</a:t>
            </a:r>
          </a:p>
          <a:p>
            <a:pPr>
              <a:spcBef>
                <a:spcPts val="16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Feeds the platform with live geospatial reviews, image data, and route coordinates.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Outfit"/>
              </a:defRPr>
            </a:pPr>
            <a:r>
              <a:t>NEXTSTOP VS. STANDARD PLANNERS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Platform Differentiators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6459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Outfit"/>
              </a:defRPr>
            </a:pPr>
            <a:r>
              <a:t>EXPERIENCE VS TRANSACTION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  <a:latin typeface="Outfit"/>
              </a:defRPr>
            </a:pPr>
            <a:r>
              <a:t>Experiential Focus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Orchestrates the entire journey and day schedule, rather than just selling hotel rooms or airline tickets.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Outfit"/>
              </a:defRPr>
            </a:pPr>
            <a:r>
              <a:t>ADAPTIVE PRICING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  <a:latin typeface="Outfit"/>
              </a:defRPr>
            </a:pPr>
            <a:r>
              <a:t>Dynamic Budgeting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Intelligently distributes total funds across dining, lodging, and tickets to prevent unexpected travel overspending.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Outfit"/>
              </a:defRPr>
            </a:pPr>
            <a:r>
              <a:t>ANTI-TRAP FILTERS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  <a:latin typeface="Outfit"/>
              </a:defRPr>
            </a:pPr>
            <a:r>
              <a:t>Environmental Adaptation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Actively avoids tourism traps, bad hours, and crowded dates using live geospatial review APIs.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Outfit"/>
              </a:defRPr>
            </a:pPr>
            <a:r>
              <a:t>NEXTSTOP PROJECT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Outfit"/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6459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103120"/>
            <a:ext cx="9418320" cy="3657600"/>
          </a:xfrm>
          <a:prstGeom prst="roundRect">
            <a:avLst/>
          </a:prstGeom>
          <a:solidFill>
            <a:srgbClr val="1218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468880"/>
            <a:ext cx="8503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4B8A6"/>
                </a:solidFill>
                <a:latin typeface="Outfit"/>
              </a:defRPr>
            </a:pPr>
            <a:r>
              <a:t>THE TRAVEL INTELLIGENCE PLATFORM</a:t>
            </a:r>
          </a:p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  <a:latin typeface="Outfit"/>
              </a:defRPr>
            </a:pPr>
            <a:r>
              <a:t>"NextStop bridges the gap between static schedules and deeply authentic journeys through intelligent, real-time routing."</a:t>
            </a:r>
          </a:p>
          <a:p>
            <a:pPr>
              <a:defRPr sz="1400">
                <a:solidFill>
                  <a:srgbClr val="94A3B8"/>
                </a:solidFill>
                <a:latin typeface="Inter"/>
              </a:defRPr>
            </a:pPr>
            <a:r>
              <a:t>By unifying user mindsets (Mood), geographic density (Clustering), and real-time APIs, NextStop establishes a scalable, developer-ready blueprint for next-generation tourism intelligence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